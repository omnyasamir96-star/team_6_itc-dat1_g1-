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embeddedFontLst>
    <p:embeddedFont>
      <p:font typeface="Barlow SemiBold"/>
      <p:regular r:id="rId201314"/>
    </p:embeddedFont>
    <p:embeddedFont>
      <p:font typeface="Barlow"/>
      <p:regular r:id="rId201315"/>
    </p:embeddedFont>
    <p:embeddedFont>
      <p:font typeface="Barlow Bold"/>
      <p:regular r:id="rId201316"/>
    </p:embeddedFont>
    <p:embeddedFont>
      <p:font typeface="Barlow Semi Condensed"/>
      <p:regular r:id="rId201317"/>
    </p:embeddedFont>
    <p:embeddedFont>
      <p:font typeface="Barlow Semi Condensed Medium"/>
      <p:regular r:id="rId201318"/>
    </p:embeddedFont>
    <p:embeddedFont>
      <p:font typeface="Barlow Semi Condensed 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3E9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1A10">
              <a:alpha val="48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3E9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F3E9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9D7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4">
    <p:bg>
      <p:bgPr>
        <a:solidFill>
          <a:srgbClr val="F3E9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B2416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6516" y="203200"/>
            <a:ext cx="6330296" cy="4436864"/>
          </a:xfrm>
          <a:prstGeom prst="roundRect">
            <a:avLst>
              <a:gd name="adj" fmla="val 601"/>
            </a:avLst>
          </a:prstGeom>
          <a:solidFill>
            <a:srgbClr val="3B2416"/>
          </a:solidFill>
          <a:ln/>
        </p:spPr>
      </p:sp>
      <p:sp>
        <p:nvSpPr>
          <p:cNvPr id="3" name="Text 1"/>
          <p:cNvSpPr/>
          <p:nvPr/>
        </p:nvSpPr>
        <p:spPr>
          <a:xfrm>
            <a:off x="327314" y="263525"/>
            <a:ext cx="6838283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spc="90" kern="100" dirty="0">
                <a:solidFill>
                  <a:srgbClr val="D98E3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DEPI · TEAM 6 · GROUP G6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7314" y="920750"/>
            <a:ext cx="6228698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500" spc="-165" kern="100" dirty="0">
                <a:solidFill>
                  <a:srgbClr val="FFFFFF"/>
                </a:solidFill>
                <a:latin typeface="Barlow Semi Condensed Medium" pitchFamily="34" charset="0"/>
                <a:ea typeface="Barlow Semi Condensed Medium" pitchFamily="34" charset="-122"/>
                <a:cs typeface="Barlow Semi Condensed Medium" pitchFamily="34" charset="-120"/>
              </a:rPr>
              <a:t>Maven Roasters</a:t>
            </a:r>
            <a:endParaRPr lang="en-US" sz="5500" dirty="0"/>
          </a:p>
          <a:p>
            <a:pPr algn="l" indent="0" marL="0">
              <a:lnSpc>
                <a:spcPct val="83000"/>
              </a:lnSpc>
              <a:buNone/>
            </a:pPr>
            <a:r>
              <a:rPr lang="en-US" sz="5500" spc="-165" kern="100" dirty="0">
                <a:solidFill>
                  <a:srgbClr val="FFFFFF"/>
                </a:solidFill>
                <a:latin typeface="Barlow Semi Condensed Medium" pitchFamily="34" charset="0"/>
                <a:ea typeface="Barlow Semi Condensed Medium" pitchFamily="34" charset="-122"/>
                <a:cs typeface="Barlow Semi Condensed Medium" pitchFamily="34" charset="-120"/>
              </a:rPr>
              <a:t>Coffee Shop</a:t>
            </a:r>
            <a:endParaRPr lang="en-US" sz="5500" dirty="0"/>
          </a:p>
        </p:txBody>
      </p:sp>
      <p:sp>
        <p:nvSpPr>
          <p:cNvPr id="5" name="Text 3"/>
          <p:cNvSpPr/>
          <p:nvPr/>
        </p:nvSpPr>
        <p:spPr>
          <a:xfrm>
            <a:off x="327314" y="2428234"/>
            <a:ext cx="6228698" cy="460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300" spc="-99" kern="100" dirty="0">
                <a:solidFill>
                  <a:srgbClr val="F5E6CC"/>
                </a:solidFill>
                <a:latin typeface="Barlow Semi Condensed Medium" pitchFamily="34" charset="0"/>
                <a:ea typeface="Barlow Semi Condensed Medium" pitchFamily="34" charset="-122"/>
                <a:cs typeface="Barlow Semi Condensed Medium" pitchFamily="34" charset="-120"/>
              </a:rPr>
              <a:t>Sales &amp; Peak Hours Analysis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327314" y="3055898"/>
            <a:ext cx="6228698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spc="-28" kern="1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Transforming transactional data into strategic business decisions.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7314" y="3888581"/>
            <a:ext cx="2055364" cy="38100"/>
          </a:xfrm>
          <a:prstGeom prst="roundRect">
            <a:avLst>
              <a:gd name="adj" fmla="val 49999"/>
            </a:avLst>
          </a:prstGeom>
          <a:solidFill>
            <a:srgbClr val="C8763A"/>
          </a:solidFill>
          <a:ln/>
        </p:spPr>
      </p:sp>
      <p:sp>
        <p:nvSpPr>
          <p:cNvPr id="8" name="Text 6"/>
          <p:cNvSpPr/>
          <p:nvPr/>
        </p:nvSpPr>
        <p:spPr>
          <a:xfrm>
            <a:off x="327314" y="4138771"/>
            <a:ext cx="6838283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00" spc="-28" kern="1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Digital Egypt Pioneers Initiative (DEPI) | Team 6 (Group G6) | Team Lead &amp; Project Members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6516" y="4772521"/>
            <a:ext cx="6330296" cy="1707852"/>
          </a:xfrm>
          <a:prstGeom prst="roundRect">
            <a:avLst>
              <a:gd name="adj" fmla="val 1562"/>
            </a:avLst>
          </a:prstGeom>
          <a:solidFill>
            <a:srgbClr val="F3E9D7"/>
          </a:solidFill>
          <a:ln/>
        </p:spPr>
      </p:sp>
      <p:sp>
        <p:nvSpPr>
          <p:cNvPr id="10" name="Text 8"/>
          <p:cNvSpPr/>
          <p:nvPr/>
        </p:nvSpPr>
        <p:spPr>
          <a:xfrm>
            <a:off x="454311" y="4908411"/>
            <a:ext cx="6584289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00" spc="78" kern="100" dirty="0">
                <a:solidFill>
                  <a:srgbClr val="8B5A2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PROJECT TEAM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4311" y="5289352"/>
            <a:ext cx="5974704" cy="1064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b="1" spc="-28" kern="100" dirty="0">
                <a:solidFill>
                  <a:srgbClr val="3B241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Supervising Engineer: </a:t>
            </a:r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b="1" spc="-28" kern="100" dirty="0">
                <a:solidFill>
                  <a:srgbClr val="8A4B1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Eng. Ahmed Ayman El-Saay</a:t>
            </a:r>
            <a:endParaRPr lang="en-US" sz="1400" dirty="0"/>
          </a:p>
          <a:p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b="1" spc="-28" kern="100" dirty="0">
                <a:solidFill>
                  <a:srgbClr val="3B241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Team Leader: </a:t>
            </a:r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b="1" spc="-28" kern="100" dirty="0">
                <a:solidFill>
                  <a:srgbClr val="8A4B1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Omnia Samir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b="1" spc="-28" kern="100" dirty="0">
                <a:solidFill>
                  <a:srgbClr val="3B241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Team Members: </a:t>
            </a:r>
            <a:pPr algn="l" indent="0" marL="0">
              <a:lnSpc>
                <a:spcPct val="117000"/>
              </a:lnSpc>
              <a:buNone/>
            </a:pPr>
            <a:r>
              <a:rPr lang="en-US" sz="1400" b="1" spc="-28" kern="100" dirty="0">
                <a:solidFill>
                  <a:srgbClr val="8A4B1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Ragab Samir, Ali Tawfik, Hagar Aly, Haidy Adel , Toka  El haddad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5189" y="2480"/>
            <a:ext cx="1366406" cy="136644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968202"/>
          </a:xfrm>
          <a:prstGeom prst="rect">
            <a:avLst/>
          </a:prstGeom>
          <a:solidFill>
            <a:srgbClr val="F3E9D7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619125"/>
            <a:ext cx="1158211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spc="90" kern="1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OPERATIONAL DILEMMA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09585" y="974052"/>
            <a:ext cx="10972526" cy="600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300" spc="-129" kern="100" dirty="0">
                <a:solidFill>
                  <a:srgbClr val="000000"/>
                </a:solidFill>
                <a:latin typeface="Barlow Semi Condensed Medium" pitchFamily="34" charset="0"/>
                <a:ea typeface="Barlow Semi Condensed Medium" pitchFamily="34" charset="-122"/>
                <a:cs typeface="Barlow Semi Condensed Medium" pitchFamily="34" charset="-120"/>
              </a:rPr>
              <a:t>The same shop carries two very different problems.</a:t>
            </a:r>
            <a:endParaRPr lang="en-US" sz="4300" dirty="0"/>
          </a:p>
        </p:txBody>
      </p:sp>
      <p:sp>
        <p:nvSpPr>
          <p:cNvPr id="5" name="Text 3"/>
          <p:cNvSpPr/>
          <p:nvPr/>
        </p:nvSpPr>
        <p:spPr>
          <a:xfrm>
            <a:off x="609585" y="1739225"/>
            <a:ext cx="11582110" cy="37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100" spc="-28" kern="1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Peak demand creates friction. Off-peak capacity sits unused.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0" y="2272903"/>
            <a:ext cx="5824590" cy="1219200"/>
          </a:xfrm>
          <a:prstGeom prst="rect">
            <a:avLst/>
          </a:prstGeom>
          <a:solidFill>
            <a:srgbClr val="EFE8DA"/>
          </a:solidFill>
          <a:ln/>
        </p:spPr>
      </p:sp>
      <p:sp>
        <p:nvSpPr>
          <p:cNvPr id="7" name="Text 5"/>
          <p:cNvSpPr/>
          <p:nvPr/>
        </p:nvSpPr>
        <p:spPr>
          <a:xfrm>
            <a:off x="609585" y="2074327"/>
            <a:ext cx="5215005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spc="108" kern="100" dirty="0">
                <a:solidFill>
                  <a:srgbClr val="8A4B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10:00 AM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09585" y="2472037"/>
            <a:ext cx="4605421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800" spc="-84" kern="100" dirty="0">
                <a:solidFill>
                  <a:srgbClr val="000000"/>
                </a:solidFill>
                <a:latin typeface="Barlow Semi Condensed Medium" pitchFamily="34" charset="0"/>
                <a:ea typeface="Barlow Semi Condensed Medium" pitchFamily="34" charset="-122"/>
                <a:cs typeface="Barlow Semi Condensed Medium" pitchFamily="34" charset="-120"/>
              </a:rPr>
              <a:t>Long wait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09585" y="3036570"/>
            <a:ext cx="4605421" cy="675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00" spc="-28" kern="1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At 10:00 AM, customers wait a long time for coffee before work.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129283" y="2272903"/>
            <a:ext cx="6062412" cy="1219200"/>
          </a:xfrm>
          <a:prstGeom prst="rect">
            <a:avLst/>
          </a:prstGeom>
          <a:solidFill>
            <a:srgbClr val="F3E9D7"/>
          </a:solidFill>
          <a:ln/>
        </p:spPr>
      </p:sp>
      <p:sp>
        <p:nvSpPr>
          <p:cNvPr id="11" name="Text 9"/>
          <p:cNvSpPr/>
          <p:nvPr/>
        </p:nvSpPr>
        <p:spPr>
          <a:xfrm>
            <a:off x="6738868" y="2074327"/>
            <a:ext cx="5452827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spc="108" kern="100" dirty="0">
                <a:solidFill>
                  <a:srgbClr val="8A4B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3:00 PM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738868" y="2472037"/>
            <a:ext cx="4843242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800" spc="-84" kern="100" dirty="0">
                <a:solidFill>
                  <a:srgbClr val="000000"/>
                </a:solidFill>
                <a:latin typeface="Barlow Semi Condensed Medium" pitchFamily="34" charset="0"/>
                <a:ea typeface="Barlow Semi Condensed Medium" pitchFamily="34" charset="-122"/>
                <a:cs typeface="Barlow Semi Condensed Medium" pitchFamily="34" charset="-120"/>
              </a:rPr>
              <a:t>Empty shop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738868" y="3036570"/>
            <a:ext cx="4843242" cy="675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00" spc="-28" kern="1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At 3:00 PM, the shop is quiet and staff have little to do.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0" y="3796209"/>
            <a:ext cx="12191695" cy="3061791"/>
          </a:xfrm>
          <a:prstGeom prst="rect">
            <a:avLst/>
          </a:prstGeom>
          <a:solidFill>
            <a:srgbClr val="3B2416"/>
          </a:solidFill>
          <a:ln/>
        </p:spPr>
      </p:sp>
      <p:sp>
        <p:nvSpPr>
          <p:cNvPr id="15" name="Text 13"/>
          <p:cNvSpPr/>
          <p:nvPr/>
        </p:nvSpPr>
        <p:spPr>
          <a:xfrm>
            <a:off x="609585" y="4405809"/>
            <a:ext cx="10972526" cy="2256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2900" b="1" spc="-28" kern="100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Core problem:</a:t>
            </a:r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2900" spc="-28" kern="1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</a:t>
            </a:r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2200" spc="-28" kern="1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issue is not just traffic; it is lost revenue, missed opportunities, and operational inefficiency.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2900" b="1" spc="-28" kern="100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Project goal:</a:t>
            </a:r>
            <a:pPr algn="l" indent="0" marL="0">
              <a:lnSpc>
                <a:spcPct val="117000"/>
              </a:lnSpc>
              <a:buNone/>
            </a:pPr>
            <a:r>
              <a:rPr lang="en-US" sz="4400" spc="-28" kern="1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</a:t>
            </a:r>
            <a:pPr algn="l" indent="0" marL="0">
              <a:lnSpc>
                <a:spcPct val="117000"/>
              </a:lnSpc>
              <a:buNone/>
            </a:pPr>
            <a:r>
              <a:rPr lang="en-US" sz="2200" spc="-28" kern="1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</a:t>
            </a:r>
            <a:pPr algn="l" indent="0" marL="0">
              <a:lnSpc>
                <a:spcPct val="117000"/>
              </a:lnSpc>
              <a:buNone/>
            </a:pPr>
            <a:r>
              <a:rPr lang="en-US" sz="2300" spc="-28" kern="1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urn daily sales data into a roadmap that optimizes operations and drives revenue.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950699" y="6466086"/>
            <a:ext cx="240996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spc="-28" kern="100" dirty="0">
                <a:solidFill>
                  <a:srgbClr val="805A19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464296"/>
          </a:xfrm>
          <a:prstGeom prst="rect">
            <a:avLst/>
          </a:prstGeom>
          <a:solidFill>
            <a:srgbClr val="3B2416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635687"/>
            <a:ext cx="11582110" cy="194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50" spc="68" kern="1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TEAM ROADMAP &amp; TECHNICAL ARCHITECTURE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09585" y="913201"/>
            <a:ext cx="10972526" cy="565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50" spc="-121" kern="100" dirty="0">
                <a:solidFill>
                  <a:srgbClr val="FFFFFF"/>
                </a:solidFill>
                <a:latin typeface="Barlow Semi Condensed Medium" pitchFamily="34" charset="0"/>
                <a:ea typeface="Barlow Semi Condensed Medium" pitchFamily="34" charset="-122"/>
                <a:cs typeface="Barlow Semi Condensed Medium" pitchFamily="34" charset="-120"/>
              </a:rPr>
              <a:t>From raw transactions to an interactive decision tool.</a:t>
            </a:r>
            <a:endParaRPr lang="en-US" sz="4050" dirty="0"/>
          </a:p>
        </p:txBody>
      </p:sp>
      <p:sp>
        <p:nvSpPr>
          <p:cNvPr id="5" name="Text 3"/>
          <p:cNvSpPr/>
          <p:nvPr/>
        </p:nvSpPr>
        <p:spPr>
          <a:xfrm>
            <a:off x="609585" y="1619358"/>
            <a:ext cx="11582110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spc="-28" kern="1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Each team pair owns one layer of the workflow.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2921397"/>
            <a:ext cx="12191695" cy="3936603"/>
          </a:xfrm>
          <a:prstGeom prst="rect">
            <a:avLst/>
          </a:prstGeom>
          <a:solidFill>
            <a:srgbClr val="3B2416"/>
          </a:solidFill>
          <a:ln/>
        </p:spPr>
      </p:sp>
      <p:sp>
        <p:nvSpPr>
          <p:cNvPr id="7" name="Shape 5"/>
          <p:cNvSpPr/>
          <p:nvPr/>
        </p:nvSpPr>
        <p:spPr>
          <a:xfrm>
            <a:off x="228594" y="3149997"/>
            <a:ext cx="3708307" cy="3728244"/>
          </a:xfrm>
          <a:prstGeom prst="rect">
            <a:avLst/>
          </a:prstGeom>
          <a:solidFill>
            <a:srgbClr val="F4E7D3"/>
          </a:solidFill>
          <a:ln/>
        </p:spPr>
      </p:sp>
      <p:sp>
        <p:nvSpPr>
          <p:cNvPr id="8" name="Text 6"/>
          <p:cNvSpPr/>
          <p:nvPr/>
        </p:nvSpPr>
        <p:spPr>
          <a:xfrm>
            <a:off x="838179" y="3759597"/>
            <a:ext cx="753746" cy="167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spc="-28" kern="100" dirty="0">
                <a:solidFill>
                  <a:srgbClr val="000000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38179" y="3993852"/>
            <a:ext cx="2489039" cy="19050"/>
          </a:xfrm>
          <a:prstGeom prst="rect">
            <a:avLst/>
          </a:prstGeom>
          <a:solidFill>
            <a:srgbClr val="C8763A"/>
          </a:solidFill>
          <a:ln/>
        </p:spPr>
      </p:sp>
      <p:sp>
        <p:nvSpPr>
          <p:cNvPr id="10" name="Text 8"/>
          <p:cNvSpPr/>
          <p:nvPr/>
        </p:nvSpPr>
        <p:spPr>
          <a:xfrm>
            <a:off x="838179" y="4124795"/>
            <a:ext cx="2489138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900" spc="-56" kern="100" dirty="0">
                <a:solidFill>
                  <a:srgbClr val="000000"/>
                </a:solidFill>
                <a:latin typeface="Barlow Semi Condensed" pitchFamily="34" charset="0"/>
                <a:ea typeface="Barlow Semi Condensed" pitchFamily="34" charset="-122"/>
                <a:cs typeface="Barlow Semi Condensed" pitchFamily="34" charset="-120"/>
              </a:rPr>
              <a:t>Data Cleaning &amp; ETL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38179" y="4496182"/>
            <a:ext cx="3098722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spc="62" kern="1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ALY &amp; HAIDY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38179" y="4820284"/>
            <a:ext cx="2489138" cy="14609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700" spc="-28" kern="1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Cleaned and transformed the data with SQL Server and Power Query; created </a:t>
            </a:r>
            <a:pPr algn="l" indent="0" marL="0">
              <a:lnSpc>
                <a:spcPct val="113000"/>
              </a:lnSpc>
              <a:buNone/>
            </a:pPr>
            <a:r>
              <a:rPr lang="en-US" sz="1700" i="1" spc="-28" kern="1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vw_coffee_sales</a:t>
            </a:r>
            <a:pPr algn="l" indent="0" marL="0">
              <a:lnSpc>
                <a:spcPct val="113000"/>
              </a:lnSpc>
              <a:buNone/>
            </a:pPr>
            <a:r>
              <a:rPr lang="en-US" sz="1700" spc="-28" kern="1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and derived date/time columns.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241694" y="3149997"/>
            <a:ext cx="3708307" cy="3728244"/>
          </a:xfrm>
          <a:prstGeom prst="rect">
            <a:avLst/>
          </a:prstGeom>
          <a:solidFill>
            <a:srgbClr val="F4E7D3"/>
          </a:solidFill>
          <a:ln/>
        </p:spPr>
      </p:sp>
      <p:sp>
        <p:nvSpPr>
          <p:cNvPr id="14" name="Text 12"/>
          <p:cNvSpPr/>
          <p:nvPr/>
        </p:nvSpPr>
        <p:spPr>
          <a:xfrm>
            <a:off x="4851279" y="3759597"/>
            <a:ext cx="789662" cy="167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spc="-28" kern="100" dirty="0">
                <a:solidFill>
                  <a:srgbClr val="000000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51279" y="3993852"/>
            <a:ext cx="2489039" cy="19050"/>
          </a:xfrm>
          <a:prstGeom prst="rect">
            <a:avLst/>
          </a:prstGeom>
          <a:solidFill>
            <a:srgbClr val="C8763A"/>
          </a:solidFill>
          <a:ln/>
        </p:spPr>
      </p:sp>
      <p:sp>
        <p:nvSpPr>
          <p:cNvPr id="16" name="Text 14"/>
          <p:cNvSpPr/>
          <p:nvPr/>
        </p:nvSpPr>
        <p:spPr>
          <a:xfrm>
            <a:off x="4851279" y="4285529"/>
            <a:ext cx="248913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900" spc="-56" kern="100" dirty="0">
                <a:solidFill>
                  <a:srgbClr val="000000"/>
                </a:solidFill>
                <a:latin typeface="Barlow Semi Condensed" pitchFamily="34" charset="0"/>
                <a:ea typeface="Barlow Semi Condensed" pitchFamily="34" charset="-122"/>
                <a:cs typeface="Barlow Semi Condensed" pitchFamily="34" charset="-120"/>
              </a:rPr>
              <a:t>Advanced SQL &amp; Aggregations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4851279" y="4919747"/>
            <a:ext cx="3098722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spc="62" kern="1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RAGAB &amp; TOQA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51279" y="5243849"/>
            <a:ext cx="2489138" cy="876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700" spc="-28" kern="1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Calculated peak hours, store performance, and day-part metrics.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254793" y="3149997"/>
            <a:ext cx="3708307" cy="3728244"/>
          </a:xfrm>
          <a:prstGeom prst="rect">
            <a:avLst/>
          </a:prstGeom>
          <a:solidFill>
            <a:srgbClr val="F4E7D3"/>
          </a:solidFill>
          <a:ln/>
        </p:spPr>
      </p:sp>
      <p:sp>
        <p:nvSpPr>
          <p:cNvPr id="20" name="Text 18"/>
          <p:cNvSpPr/>
          <p:nvPr/>
        </p:nvSpPr>
        <p:spPr>
          <a:xfrm>
            <a:off x="8864378" y="3759597"/>
            <a:ext cx="786388" cy="167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spc="-28" kern="100" dirty="0">
                <a:solidFill>
                  <a:srgbClr val="000000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864378" y="3993852"/>
            <a:ext cx="2489039" cy="19050"/>
          </a:xfrm>
          <a:prstGeom prst="rect">
            <a:avLst/>
          </a:prstGeom>
          <a:solidFill>
            <a:srgbClr val="C8763A"/>
          </a:solidFill>
          <a:ln/>
        </p:spPr>
      </p:sp>
      <p:sp>
        <p:nvSpPr>
          <p:cNvPr id="22" name="Text 20"/>
          <p:cNvSpPr/>
          <p:nvPr/>
        </p:nvSpPr>
        <p:spPr>
          <a:xfrm>
            <a:off x="8864378" y="4270845"/>
            <a:ext cx="2489138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900" spc="-56" kern="100" dirty="0">
                <a:solidFill>
                  <a:srgbClr val="000000"/>
                </a:solidFill>
                <a:latin typeface="Barlow Semi Condensed" pitchFamily="34" charset="0"/>
                <a:ea typeface="Barlow Semi Condensed" pitchFamily="34" charset="-122"/>
                <a:cs typeface="Barlow Semi Condensed" pitchFamily="34" charset="-120"/>
              </a:rPr>
              <a:t>Power BI &amp; DAX Design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8864378" y="4642232"/>
            <a:ext cx="3098722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spc="62" kern="1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OMNYA &amp; HAGER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864378" y="4966334"/>
            <a:ext cx="2489138" cy="1168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700" spc="-28" kern="1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Built the model and measures such as AOV and Peak Hour for the interactive dashboard.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1953378" y="6466086"/>
            <a:ext cx="238317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spc="-28" kern="100" dirty="0">
                <a:solidFill>
                  <a:srgbClr val="805A19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1418" cy="6858000"/>
          </a:xfrm>
          <a:prstGeom prst="rect">
            <a:avLst/>
          </a:prstGeom>
          <a:solidFill>
            <a:srgbClr val="2B1A10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616183"/>
            <a:ext cx="3451833" cy="164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950" spc="57" kern="1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EXECUTIVE DASHBOARD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09585" y="864479"/>
            <a:ext cx="2842248" cy="2847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100" spc="-122" kern="100" dirty="0">
                <a:solidFill>
                  <a:srgbClr val="FFFFFF"/>
                </a:solidFill>
                <a:latin typeface="Barlow Semi Condensed Medium" pitchFamily="34" charset="0"/>
                <a:ea typeface="Barlow Semi Condensed Medium" pitchFamily="34" charset="-122"/>
                <a:cs typeface="Barlow Semi Condensed Medium" pitchFamily="34" charset="-120"/>
              </a:rPr>
              <a:t>Morning Rush is the commercial center of gravity.</a:t>
            </a:r>
            <a:endParaRPr lang="en-US" sz="4100" dirty="0"/>
          </a:p>
        </p:txBody>
      </p:sp>
      <p:sp>
        <p:nvSpPr>
          <p:cNvPr id="5" name="Text 3"/>
          <p:cNvSpPr/>
          <p:nvPr/>
        </p:nvSpPr>
        <p:spPr>
          <a:xfrm>
            <a:off x="609585" y="3894216"/>
            <a:ext cx="2842248" cy="1395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600" spc="-28" kern="1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dashboard turns transactional data into a view of when demand peaks, where revenue concentrates, and how stores compare.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9585" y="5461595"/>
            <a:ext cx="937891" cy="31651"/>
          </a:xfrm>
          <a:prstGeom prst="roundRect">
            <a:avLst>
              <a:gd name="adj" fmla="val 49998"/>
            </a:avLst>
          </a:prstGeom>
          <a:solidFill>
            <a:srgbClr val="C8763A"/>
          </a:solidFill>
          <a:ln/>
        </p:spPr>
      </p:sp>
      <p:sp>
        <p:nvSpPr>
          <p:cNvPr id="7" name="Text 5"/>
          <p:cNvSpPr/>
          <p:nvPr/>
        </p:nvSpPr>
        <p:spPr>
          <a:xfrm>
            <a:off x="609585" y="5682987"/>
            <a:ext cx="3451833" cy="164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950" spc="-28" kern="1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366111" y="0"/>
            <a:ext cx="3760396" cy="2337296"/>
          </a:xfrm>
          <a:prstGeom prst="rect">
            <a:avLst/>
          </a:prstGeom>
          <a:solidFill>
            <a:srgbClr val="3B2416"/>
          </a:solidFill>
          <a:ln/>
        </p:spPr>
      </p:sp>
      <p:sp>
        <p:nvSpPr>
          <p:cNvPr id="9" name="Text 7"/>
          <p:cNvSpPr/>
          <p:nvPr/>
        </p:nvSpPr>
        <p:spPr>
          <a:xfrm>
            <a:off x="4975696" y="460807"/>
            <a:ext cx="3150811" cy="164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950" spc="57" kern="100" dirty="0">
                <a:solidFill>
                  <a:srgbClr val="D9A44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PEAK HOUR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975696" y="742327"/>
            <a:ext cx="2541226" cy="577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550" spc="-137" kern="100" dirty="0">
                <a:solidFill>
                  <a:srgbClr val="D9A441"/>
                </a:solidFill>
                <a:latin typeface="Barlow Semi Condensed Medium" pitchFamily="34" charset="0"/>
                <a:ea typeface="Barlow Semi Condensed Medium" pitchFamily="34" charset="-122"/>
                <a:cs typeface="Barlow Semi Condensed Medium" pitchFamily="34" charset="-120"/>
              </a:rPr>
              <a:t>10:00 AM</a:t>
            </a:r>
            <a:endParaRPr lang="en-US" sz="4550" dirty="0"/>
          </a:p>
        </p:txBody>
      </p:sp>
      <p:sp>
        <p:nvSpPr>
          <p:cNvPr id="11" name="Text 9"/>
          <p:cNvSpPr/>
          <p:nvPr/>
        </p:nvSpPr>
        <p:spPr>
          <a:xfrm>
            <a:off x="4975696" y="1432708"/>
            <a:ext cx="2541226" cy="459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350" spc="-28" kern="100" dirty="0">
                <a:solidFill>
                  <a:srgbClr val="D9A44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identified with dynamic DAX measures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431299" y="0"/>
            <a:ext cx="3760396" cy="2337296"/>
          </a:xfrm>
          <a:prstGeom prst="rect">
            <a:avLst/>
          </a:prstGeom>
          <a:solidFill>
            <a:srgbClr val="3B2416"/>
          </a:solidFill>
          <a:ln/>
        </p:spPr>
      </p:sp>
      <p:sp>
        <p:nvSpPr>
          <p:cNvPr id="13" name="Text 11"/>
          <p:cNvSpPr/>
          <p:nvPr/>
        </p:nvSpPr>
        <p:spPr>
          <a:xfrm>
            <a:off x="9040884" y="375379"/>
            <a:ext cx="3150811" cy="164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950" spc="57" kern="1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MORNING RUSH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040884" y="689978"/>
            <a:ext cx="2541226" cy="890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7000" spc="-210" kern="100" dirty="0">
                <a:solidFill>
                  <a:srgbClr val="D9A441"/>
                </a:solidFill>
                <a:latin typeface="Barlow Semi Condensed Medium" pitchFamily="34" charset="0"/>
                <a:ea typeface="Barlow Semi Condensed Medium" pitchFamily="34" charset="-122"/>
                <a:cs typeface="Barlow Semi Condensed Medium" pitchFamily="34" charset="-120"/>
              </a:rPr>
              <a:t>388K</a:t>
            </a:r>
            <a:endParaRPr lang="en-US" sz="7000" dirty="0"/>
          </a:p>
        </p:txBody>
      </p:sp>
      <p:sp>
        <p:nvSpPr>
          <p:cNvPr id="15" name="Text 13"/>
          <p:cNvSpPr/>
          <p:nvPr/>
        </p:nvSpPr>
        <p:spPr>
          <a:xfrm>
            <a:off x="9040884" y="1747926"/>
            <a:ext cx="3150811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350" spc="-28" kern="1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55.56% of revenue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366111" y="2641997"/>
            <a:ext cx="7825584" cy="4216003"/>
          </a:xfrm>
          <a:prstGeom prst="rect">
            <a:avLst/>
          </a:prstGeom>
          <a:solidFill>
            <a:srgbClr val="FFF5E6"/>
          </a:solidFill>
          <a:ln/>
        </p:spPr>
      </p:sp>
      <p:sp>
        <p:nvSpPr>
          <p:cNvPr id="17" name="Text 15"/>
          <p:cNvSpPr/>
          <p:nvPr/>
        </p:nvSpPr>
        <p:spPr>
          <a:xfrm>
            <a:off x="4975696" y="3301394"/>
            <a:ext cx="7215999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350" spc="80" kern="1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THREE FINDINGS TO ACT ON</a:t>
            </a:r>
            <a:endParaRPr lang="en-US" sz="135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75696" y="3664583"/>
            <a:ext cx="337038" cy="337046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481302" y="3675737"/>
            <a:ext cx="6100808" cy="558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600" b="1" spc="-28" kern="100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10:00 AM is the peak hour.</a:t>
            </a:r>
            <a:pPr algn="l" indent="0" marL="0">
              <a:lnSpc>
                <a:spcPct val="114000"/>
              </a:lnSpc>
              <a:buNone/>
            </a:pPr>
            <a:r>
              <a:rPr lang="en-US" sz="1600" spc="-28" kern="1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Demand concentration makes staffing and queue design time-sensitive.</a:t>
            </a:r>
            <a:endParaRPr lang="en-US" sz="16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5696" y="4618571"/>
            <a:ext cx="337038" cy="337046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481302" y="4629725"/>
            <a:ext cx="6100808" cy="558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600" b="1" spc="-28" kern="100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Morning Rush leads performance.</a:t>
            </a:r>
            <a:pPr algn="l" indent="0" marL="0">
              <a:lnSpc>
                <a:spcPct val="114000"/>
              </a:lnSpc>
              <a:buNone/>
            </a:pPr>
            <a:r>
              <a:rPr lang="en-US" sz="1600" spc="-28" kern="1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It contributes 388K, or 55.56% of revenue, and leads transaction volume.</a:t>
            </a:r>
            <a:endParaRPr lang="en-US" sz="16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5696" y="5572261"/>
            <a:ext cx="337038" cy="33704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481302" y="5583416"/>
            <a:ext cx="6100808" cy="558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600" b="1" spc="-28" kern="100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Store context matters.</a:t>
            </a:r>
            <a:pPr algn="l" indent="0" marL="0">
              <a:lnSpc>
                <a:spcPct val="114000"/>
              </a:lnSpc>
              <a:buNone/>
            </a:pPr>
            <a:r>
              <a:rPr lang="en-US" sz="1600" spc="-28" kern="1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The dashboard compares Astoria, Lower Manhattan, and Hell’s Kitchen to surface location-specific opportunities.</a:t>
            </a:r>
            <a:endParaRPr lang="en-US" sz="1600" dirty="0"/>
          </a:p>
        </p:txBody>
      </p:sp>
      <p:sp>
        <p:nvSpPr>
          <p:cNvPr id="24" name="Shape 19"/>
          <p:cNvSpPr/>
          <p:nvPr/>
        </p:nvSpPr>
        <p:spPr>
          <a:xfrm>
            <a:off x="4975696" y="4383584"/>
            <a:ext cx="6606414" cy="1270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5" name="Shape 20"/>
          <p:cNvSpPr/>
          <p:nvPr/>
        </p:nvSpPr>
        <p:spPr>
          <a:xfrm>
            <a:off x="4975696" y="5337274"/>
            <a:ext cx="6606414" cy="1270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6" name="Text 21"/>
          <p:cNvSpPr/>
          <p:nvPr/>
        </p:nvSpPr>
        <p:spPr>
          <a:xfrm>
            <a:off x="11948814" y="6466086"/>
            <a:ext cx="242881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spc="-28" kern="100" dirty="0">
                <a:solidFill>
                  <a:srgbClr val="805A19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2411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spc="-96" kern="100" dirty="0">
                <a:solidFill>
                  <a:srgbClr val="000000"/>
                </a:solidFill>
                <a:latin typeface="Barlow Semi Condensed Medium" pitchFamily="34" charset="0"/>
                <a:ea typeface="Barlow Semi Condensed Medium" pitchFamily="34" charset="-122"/>
                <a:cs typeface="Barlow Semi Condensed Medium" pitchFamily="34" charset="-120"/>
              </a:rPr>
              <a:t>Executive Dashboard Preview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1056580"/>
            <a:ext cx="10972526" cy="51918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953477" y="6466086"/>
            <a:ext cx="238218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spc="-28" kern="100" dirty="0">
                <a:solidFill>
                  <a:srgbClr val="805A19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2317146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spc="-96" kern="100" dirty="0">
                <a:solidFill>
                  <a:srgbClr val="000000"/>
                </a:solidFill>
                <a:latin typeface="Barlow Semi Condensed Medium" pitchFamily="34" charset="0"/>
                <a:ea typeface="Barlow Semi Condensed Medium" pitchFamily="34" charset="-122"/>
                <a:cs typeface="Barlow Semi Condensed Medium" pitchFamily="34" charset="-120"/>
              </a:rPr>
              <a:t>Dashboard Insights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09585" y="2919115"/>
            <a:ext cx="10972526" cy="16444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spc="-28" kern="1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Peak Hour is </a:t>
            </a:r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spc="-28" kern="100" dirty="0">
                <a:solidFill>
                  <a:srgbClr val="8A4B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10:00 AM</a:t>
            </a:r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spc="-28" kern="1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with 18,545 orders and $88,673.39 revenue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spc="-28" kern="1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Morning Rush leads day-part revenue with </a:t>
            </a:r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spc="-28" kern="100" dirty="0">
                <a:solidFill>
                  <a:srgbClr val="8A4B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$388,288.67</a:t>
            </a:r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spc="-28" kern="1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81,751 orders, and $4.75 average transaction value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spc="-28" kern="1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Friday is the strongest day by revenue at $101,373.00; Saturday is the weakest at $96,894.48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spc="-28" kern="1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Hell’s Kitchen leads store revenue at $236,511.17, followed by Astoria at $232,243.91 and Lower Manhattan at $230,057.25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953378" y="6466086"/>
            <a:ext cx="238317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spc="-28" kern="100" dirty="0">
                <a:solidFill>
                  <a:srgbClr val="805A19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1729"/>
            <a:ext cx="10972526" cy="45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300" spc="-99" kern="100" dirty="0">
                <a:solidFill>
                  <a:srgbClr val="FFFFFF"/>
                </a:solidFill>
                <a:latin typeface="Barlow Semi Condensed Medium" pitchFamily="34" charset="0"/>
                <a:ea typeface="Barlow Semi Condensed Medium" pitchFamily="34" charset="-122"/>
                <a:cs typeface="Barlow Semi Condensed Medium" pitchFamily="34" charset="-120"/>
              </a:rPr>
              <a:t>Strategic Business Recommendations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609585" y="1163638"/>
            <a:ext cx="5410065" cy="1785144"/>
          </a:xfrm>
          <a:prstGeom prst="roundRect">
            <a:avLst>
              <a:gd name="adj" fmla="val 3056"/>
            </a:avLst>
          </a:prstGeom>
          <a:solidFill>
            <a:srgbClr val="F5E9D6"/>
          </a:solidFill>
          <a:ln/>
        </p:spPr>
      </p:sp>
      <p:sp>
        <p:nvSpPr>
          <p:cNvPr id="4" name="Shape 2"/>
          <p:cNvSpPr/>
          <p:nvPr/>
        </p:nvSpPr>
        <p:spPr>
          <a:xfrm>
            <a:off x="914377" y="1443038"/>
            <a:ext cx="402124" cy="402134"/>
          </a:xfrm>
          <a:prstGeom prst="ellipse">
            <a:avLst/>
          </a:prstGeom>
          <a:solidFill>
            <a:srgbClr val="C8763A"/>
          </a:solidFill>
          <a:ln w="6350">
            <a:solidFill>
              <a:srgbClr val="3867A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8058" y="1546721"/>
            <a:ext cx="194762" cy="1947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377" y="1908917"/>
            <a:ext cx="4800480" cy="224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spc="-48" kern="100" dirty="0">
                <a:solidFill>
                  <a:srgbClr val="000000"/>
                </a:solidFill>
                <a:latin typeface="Barlow Semi Condensed" pitchFamily="34" charset="0"/>
                <a:ea typeface="Barlow Semi Condensed" pitchFamily="34" charset="-122"/>
                <a:cs typeface="Barlow Semi Condensed" pitchFamily="34" charset="-120"/>
              </a:rPr>
              <a:t>Staff scheduling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14377" y="2209326"/>
            <a:ext cx="4800480" cy="404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1300" spc="-28" kern="1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Add barista and cashier capacity around the </a:t>
            </a:r>
            <a:pPr algn="l" indent="0" marL="0">
              <a:lnSpc>
                <a:spcPct val="101000"/>
              </a:lnSpc>
              <a:buNone/>
            </a:pPr>
            <a:r>
              <a:rPr lang="en-US" sz="1300" spc="-28" kern="100" dirty="0">
                <a:solidFill>
                  <a:srgbClr val="8A4B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10:00 AM</a:t>
            </a:r>
            <a:pPr algn="l" indent="0" marL="0">
              <a:lnSpc>
                <a:spcPct val="101000"/>
              </a:lnSpc>
              <a:buNone/>
            </a:pPr>
            <a:r>
              <a:rPr lang="en-US" sz="1300" spc="-28" kern="1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Morning Rush peak.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172046" y="1163638"/>
            <a:ext cx="5410065" cy="1785144"/>
          </a:xfrm>
          <a:prstGeom prst="roundRect">
            <a:avLst>
              <a:gd name="adj" fmla="val 3056"/>
            </a:avLst>
          </a:prstGeom>
          <a:solidFill>
            <a:srgbClr val="F5E9D6"/>
          </a:solidFill>
          <a:ln/>
        </p:spPr>
      </p:sp>
      <p:sp>
        <p:nvSpPr>
          <p:cNvPr id="9" name="Shape 6"/>
          <p:cNvSpPr/>
          <p:nvPr/>
        </p:nvSpPr>
        <p:spPr>
          <a:xfrm>
            <a:off x="6476838" y="1443038"/>
            <a:ext cx="402124" cy="402134"/>
          </a:xfrm>
          <a:prstGeom prst="ellipse">
            <a:avLst/>
          </a:prstGeom>
          <a:solidFill>
            <a:srgbClr val="C8763A"/>
          </a:solidFill>
          <a:ln w="6350">
            <a:solidFill>
              <a:srgbClr val="3867A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0519" y="1546721"/>
            <a:ext cx="194762" cy="19476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76838" y="1908917"/>
            <a:ext cx="4800480" cy="224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spc="-48" kern="100" dirty="0">
                <a:solidFill>
                  <a:srgbClr val="000000"/>
                </a:solidFill>
                <a:latin typeface="Barlow Semi Condensed" pitchFamily="34" charset="0"/>
                <a:ea typeface="Barlow Semi Condensed" pitchFamily="34" charset="-122"/>
                <a:cs typeface="Barlow Semi Condensed" pitchFamily="34" charset="-120"/>
              </a:rPr>
              <a:t>AOV upselling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476838" y="2209326"/>
            <a:ext cx="5105272" cy="202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1300" spc="-28" kern="1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Feature Barista Espresso (</a:t>
            </a:r>
            <a:pPr algn="l" indent="0" marL="0">
              <a:lnSpc>
                <a:spcPct val="101000"/>
              </a:lnSpc>
              <a:buNone/>
            </a:pPr>
            <a:r>
              <a:rPr lang="en-US" sz="1300" spc="-28" kern="100" dirty="0">
                <a:solidFill>
                  <a:srgbClr val="8A4B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$91,406.20</a:t>
            </a:r>
            <a:pPr algn="l" indent="0" marL="0">
              <a:lnSpc>
                <a:spcPct val="101000"/>
              </a:lnSpc>
              <a:buNone/>
            </a:pPr>
            <a:r>
              <a:rPr lang="en-US" sz="1300" spc="-28" kern="1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) with bakery add-ons.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09585" y="3101082"/>
            <a:ext cx="5410065" cy="1785342"/>
          </a:xfrm>
          <a:prstGeom prst="roundRect">
            <a:avLst>
              <a:gd name="adj" fmla="val 3056"/>
            </a:avLst>
          </a:prstGeom>
          <a:solidFill>
            <a:srgbClr val="F5E9D6"/>
          </a:solidFill>
          <a:ln/>
        </p:spPr>
      </p:sp>
      <p:sp>
        <p:nvSpPr>
          <p:cNvPr id="14" name="Shape 10"/>
          <p:cNvSpPr/>
          <p:nvPr/>
        </p:nvSpPr>
        <p:spPr>
          <a:xfrm>
            <a:off x="914377" y="3380482"/>
            <a:ext cx="402124" cy="402134"/>
          </a:xfrm>
          <a:prstGeom prst="ellipse">
            <a:avLst/>
          </a:prstGeom>
          <a:solidFill>
            <a:srgbClr val="C8763A"/>
          </a:solidFill>
          <a:ln w="6350">
            <a:solidFill>
              <a:srgbClr val="3867A5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058" y="3484166"/>
            <a:ext cx="194762" cy="19476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14377" y="3846362"/>
            <a:ext cx="4800480" cy="224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spc="-48" kern="100" dirty="0">
                <a:solidFill>
                  <a:srgbClr val="000000"/>
                </a:solidFill>
                <a:latin typeface="Barlow Semi Condensed" pitchFamily="34" charset="0"/>
                <a:ea typeface="Barlow Semi Condensed" pitchFamily="34" charset="-122"/>
                <a:cs typeface="Barlow Semi Condensed" pitchFamily="34" charset="-120"/>
              </a:rPr>
              <a:t>Inventory management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914377" y="4146771"/>
            <a:ext cx="4800480" cy="404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1300" spc="-28" kern="1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Protect stock for Barista Espresso, Brewed Chai (</a:t>
            </a:r>
            <a:pPr algn="l" indent="0" marL="0">
              <a:lnSpc>
                <a:spcPct val="101000"/>
              </a:lnSpc>
              <a:buNone/>
            </a:pPr>
            <a:r>
              <a:rPr lang="en-US" sz="1300" spc="-28" kern="100" dirty="0">
                <a:solidFill>
                  <a:srgbClr val="8A4B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$77,081.95</a:t>
            </a:r>
            <a:pPr algn="l" indent="0" marL="0">
              <a:lnSpc>
                <a:spcPct val="101000"/>
              </a:lnSpc>
              <a:buNone/>
            </a:pPr>
            <a:r>
              <a:rPr lang="en-US" sz="1300" spc="-28" kern="1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), and Hot Chocolate (</a:t>
            </a:r>
            <a:pPr algn="l" indent="0" marL="0">
              <a:lnSpc>
                <a:spcPct val="101000"/>
              </a:lnSpc>
              <a:buNone/>
            </a:pPr>
            <a:r>
              <a:rPr lang="en-US" sz="1300" spc="-28" kern="100" dirty="0">
                <a:solidFill>
                  <a:srgbClr val="8A4B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$72,416.00</a:t>
            </a:r>
            <a:pPr algn="l" indent="0" marL="0">
              <a:lnSpc>
                <a:spcPct val="101000"/>
              </a:lnSpc>
              <a:buNone/>
            </a:pPr>
            <a:r>
              <a:rPr lang="en-US" sz="1300" spc="-28" kern="1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).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172046" y="3101082"/>
            <a:ext cx="5410065" cy="1785342"/>
          </a:xfrm>
          <a:prstGeom prst="roundRect">
            <a:avLst>
              <a:gd name="adj" fmla="val 3056"/>
            </a:avLst>
          </a:prstGeom>
          <a:solidFill>
            <a:srgbClr val="F5E9D6"/>
          </a:solidFill>
          <a:ln/>
        </p:spPr>
      </p:sp>
      <p:sp>
        <p:nvSpPr>
          <p:cNvPr id="19" name="Shape 14"/>
          <p:cNvSpPr/>
          <p:nvPr/>
        </p:nvSpPr>
        <p:spPr>
          <a:xfrm>
            <a:off x="6476838" y="3380482"/>
            <a:ext cx="474055" cy="474067"/>
          </a:xfrm>
          <a:prstGeom prst="ellipse">
            <a:avLst/>
          </a:prstGeom>
          <a:solidFill>
            <a:srgbClr val="C8763A"/>
          </a:solidFill>
          <a:ln w="6350">
            <a:solidFill>
              <a:srgbClr val="3867A5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0519" y="3484166"/>
            <a:ext cx="266693" cy="2667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476838" y="3918295"/>
            <a:ext cx="4800480" cy="224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spc="-48" kern="100" dirty="0">
                <a:solidFill>
                  <a:srgbClr val="000000"/>
                </a:solidFill>
                <a:latin typeface="Barlow Semi Condensed" pitchFamily="34" charset="0"/>
                <a:ea typeface="Barlow Semi Condensed" pitchFamily="34" charset="-122"/>
                <a:cs typeface="Barlow Semi Condensed" pitchFamily="34" charset="-120"/>
              </a:rPr>
              <a:t>Off-peak promotions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6476838" y="4218704"/>
            <a:ext cx="4800480" cy="404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1300" spc="-28" kern="1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Run targeted offers on Saturday and during Afternoon/Evening periods.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609585" y="5038725"/>
            <a:ext cx="10972526" cy="1785144"/>
          </a:xfrm>
          <a:prstGeom prst="roundRect">
            <a:avLst>
              <a:gd name="adj" fmla="val 3056"/>
            </a:avLst>
          </a:prstGeom>
          <a:solidFill>
            <a:srgbClr val="F5E9D6"/>
          </a:solidFill>
          <a:ln/>
        </p:spPr>
      </p:sp>
      <p:sp>
        <p:nvSpPr>
          <p:cNvPr id="24" name="Shape 18"/>
          <p:cNvSpPr/>
          <p:nvPr/>
        </p:nvSpPr>
        <p:spPr>
          <a:xfrm>
            <a:off x="914377" y="5318125"/>
            <a:ext cx="402124" cy="402134"/>
          </a:xfrm>
          <a:prstGeom prst="ellipse">
            <a:avLst/>
          </a:prstGeom>
          <a:solidFill>
            <a:srgbClr val="C8763A"/>
          </a:solidFill>
          <a:ln w="6350">
            <a:solidFill>
              <a:srgbClr val="3867A5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8058" y="5421809"/>
            <a:ext cx="194762" cy="19476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14377" y="5784005"/>
            <a:ext cx="10362941" cy="224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spc="-48" kern="100" dirty="0">
                <a:solidFill>
                  <a:srgbClr val="000000"/>
                </a:solidFill>
                <a:latin typeface="Barlow Semi Condensed" pitchFamily="34" charset="0"/>
                <a:ea typeface="Barlow Semi Condensed" pitchFamily="34" charset="-122"/>
                <a:cs typeface="Barlow Semi Condensed" pitchFamily="34" charset="-120"/>
              </a:rPr>
              <a:t>Location action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914377" y="6084414"/>
            <a:ext cx="10667733" cy="202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1300" spc="-28" kern="1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Use Hell’s Kitchen as the benchmark; improve Lower Manhattan performance.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11958537" y="6466086"/>
            <a:ext cx="233158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spc="-28" kern="100" dirty="0">
                <a:solidFill>
                  <a:srgbClr val="805A19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127797" cy="6858000"/>
          </a:xfrm>
          <a:prstGeom prst="rect">
            <a:avLst/>
          </a:prstGeom>
          <a:solidFill>
            <a:srgbClr val="F3E9D7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1397833"/>
            <a:ext cx="7518212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spc="72" kern="100" dirty="0">
                <a:solidFill>
                  <a:srgbClr val="8A4B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SUMMARY &amp; NEXT STEPS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585" y="1727639"/>
            <a:ext cx="6908627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300" spc="-129" kern="100" dirty="0">
                <a:solidFill>
                  <a:srgbClr val="3B2416"/>
                </a:solidFill>
                <a:latin typeface="Barlow Semi Condensed Medium" pitchFamily="34" charset="0"/>
                <a:ea typeface="Barlow Semi Condensed Medium" pitchFamily="34" charset="-122"/>
                <a:cs typeface="Barlow Semi Condensed Medium" pitchFamily="34" charset="-120"/>
              </a:rPr>
              <a:t>Data becomes useful when it changes the next decision.</a:t>
            </a:r>
            <a:endParaRPr lang="en-US" sz="4300" dirty="0"/>
          </a:p>
        </p:txBody>
      </p:sp>
      <p:sp>
        <p:nvSpPr>
          <p:cNvPr id="5" name="Shape 3"/>
          <p:cNvSpPr/>
          <p:nvPr/>
        </p:nvSpPr>
        <p:spPr>
          <a:xfrm>
            <a:off x="609585" y="2990056"/>
            <a:ext cx="2279692" cy="38100"/>
          </a:xfrm>
          <a:prstGeom prst="roundRect">
            <a:avLst>
              <a:gd name="adj" fmla="val 49999"/>
            </a:avLst>
          </a:prstGeom>
          <a:solidFill>
            <a:srgbClr val="B5651D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3231356"/>
            <a:ext cx="6908627" cy="2237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800" spc="-28" kern="1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Integrated SQL, Power Query, and Power BI to address a real operational challenge.</a:t>
            </a:r>
            <a:endParaRPr lang="en-US" sz="1800" dirty="0"/>
          </a:p>
          <a:p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800" spc="-28" kern="1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Converted transactional data into decisions about staffing, upselling, inventory, and off-peak demand.</a:t>
            </a:r>
            <a:endParaRPr lang="en-US" sz="18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800" b="1" spc="-28" kern="100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Next step:</a:t>
            </a:r>
            <a:pPr algn="l" indent="0" marL="0">
              <a:lnSpc>
                <a:spcPct val="117000"/>
              </a:lnSpc>
              <a:buNone/>
            </a:pPr>
            <a:r>
              <a:rPr lang="en-US" sz="1800" spc="-28" kern="1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carry the same analytical discipline and team collaboration into the Capstone Final Project.</a:t>
            </a:r>
            <a:endParaRPr lang="en-US" sz="1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797" y="0"/>
            <a:ext cx="4063898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2026-10-20T14:11:20Z</dcterms:created>
  <dcterms:modified xsi:type="dcterms:W3CDTF">2026-10-20T14:11:20Z</dcterms:modified>
</cp:coreProperties>
</file>